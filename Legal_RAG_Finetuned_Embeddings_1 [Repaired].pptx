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63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457200"/>
            <a:ext cx="3200400" cy="3200400"/>
          </a:xfrm>
          <a:prstGeom prst="line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011680" cy="2011680"/>
          </a:xfrm>
          <a:prstGeom prst="lin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2926080"/>
            <a:ext cx="1097280" cy="1097280"/>
          </a:xfrm>
          <a:prstGeom prst="line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035040" y="914400"/>
            <a:ext cx="256032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94360"/>
            <a:ext cx="193852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943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ML ENGINEERING PROJECT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9144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Domain-Specific RAG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" y="16002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Fine-tuned Embeddings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475488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8716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domain adaptation of embeddings dramatically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legal RAG retrieval performance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1463040" cy="6858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383280"/>
            <a:ext cx="146304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4198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</a:rPr>
              <a:t>+31%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3730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Context Precision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103120" y="3383280"/>
            <a:ext cx="1463040" cy="6858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3383280"/>
            <a:ext cx="146304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03120" y="34198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</a:rPr>
              <a:t>+31%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103120" y="3730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Context Recall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749040" y="3383280"/>
            <a:ext cx="1463040" cy="6858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49040" y="3383280"/>
            <a:ext cx="146304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49040" y="34198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</a:rPr>
              <a:t>+18%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749040" y="3730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Answer Relevancy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</a:rPr>
              <a:t>Vijay  •  Service Desk Analyst Trainee @ Cognizant  •  Aspiring ML Engineer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083564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08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Generic Embeddings Fail in Legal Domains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Generic models are trained on general internet text. In law, common words carry entirely different meanings: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</a:rPr>
              <a:t>LEGAL TERM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864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76F51"/>
                </a:solidFill>
              </a:rPr>
              <a:t>GENERAL MODEL RETRIEVES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240280" y="1463040"/>
            <a:ext cx="54864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D6A0"/>
                </a:solidFill>
              </a:rPr>
              <a:t>LEGAL MEANING (CORRECT)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719072"/>
            <a:ext cx="8229600" cy="493776"/>
          </a:xfrm>
          <a:prstGeom prst="rect">
            <a:avLst/>
          </a:prstGeom>
          <a:solidFill>
            <a:srgbClr val="1A2E4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1810512"/>
            <a:ext cx="137160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18105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Consideration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11680" y="17739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</a:rPr>
              <a:t>✗  Thinking / Deliberating about something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102352" y="1810512"/>
            <a:ext cx="36576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177393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✓  Value exchanged between parties in a contract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2249424"/>
            <a:ext cx="8229600" cy="493776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2340864"/>
            <a:ext cx="137160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23408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Party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011680" y="23042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</a:rPr>
              <a:t>✗  A social celebration or gathering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102352" y="2340864"/>
            <a:ext cx="36576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0" y="23042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✓  A legal entity in litigation proceedings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2779776"/>
            <a:ext cx="8229600" cy="493776"/>
          </a:xfrm>
          <a:prstGeom prst="rect">
            <a:avLst/>
          </a:prstGeom>
          <a:solidFill>
            <a:srgbClr val="1A2E4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2871216"/>
            <a:ext cx="137160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2871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Execute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011680" y="28346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</a:rPr>
              <a:t>✗  To carry out or perform an action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02352" y="2871216"/>
            <a:ext cx="36576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28346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✓  To sign and make a contract legally binding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3310128"/>
            <a:ext cx="8229600" cy="493776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3401568"/>
            <a:ext cx="137160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34015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Discovery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011680" y="3364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</a:rPr>
              <a:t>✗  Finding or noticing something new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102352" y="3401568"/>
            <a:ext cx="36576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12080" y="33649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✓  Pre-trial evidence exchange process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3840480"/>
            <a:ext cx="8229600" cy="493776"/>
          </a:xfrm>
          <a:prstGeom prst="rect">
            <a:avLst/>
          </a:prstGeom>
          <a:solidFill>
            <a:srgbClr val="1A2E4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8640" y="3931920"/>
            <a:ext cx="137160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3931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Brief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011680" y="38953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</a:rPr>
              <a:t>✗  Short in duration or length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102352" y="3931920"/>
            <a:ext cx="36576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12080" y="38953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✓  A written legal argument submitted to court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161288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THE SOLUTION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 Embeddings on Legal Domain Data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43000"/>
            <a:ext cx="1828800" cy="22860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143000"/>
            <a:ext cx="1828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1261872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3533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1. Collect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Legal corpus from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Pile of Law, Court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Opinions, Contracts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148840"/>
            <a:ext cx="228600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606040" y="1143000"/>
            <a:ext cx="1828800" cy="22860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606040" y="1143000"/>
            <a:ext cx="18288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200400" y="1261872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135331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060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2. Pair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69748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Generate (query,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passage) training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pairs for retrieval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148840"/>
            <a:ext cx="228600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800600" y="1143000"/>
            <a:ext cx="1828800" cy="22860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800600" y="1143000"/>
            <a:ext cx="1828800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394960" y="1261872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5331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006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6F51"/>
                </a:solidFill>
              </a:rPr>
              <a:t>3. Fine-tune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89204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MultipleNegatives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RankingLoss on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all-MiniLM-L6-v2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148840"/>
            <a:ext cx="228600" cy="2286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995160" y="1143000"/>
            <a:ext cx="1828800" cy="228600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995160" y="1143000"/>
            <a:ext cx="18288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589520" y="1261872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353312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951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4. Deploy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708660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Replace generic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embeddings in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RAG pipeline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411480" y="3547872"/>
            <a:ext cx="832104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411480" y="3547872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051560" y="35935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Why MultipleNegativesRankingLoss?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1051560" y="3877056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Given (query, relevant_doc) pairs, this loss treats every other document in the batch as a hard negative — automatically. No manual negative construction needed. Batch size N = N positives + N×(N-1) implicit negatives. State-of-the-art for retrieval tasks.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16128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Dual RAG Pipeline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43000"/>
            <a:ext cx="1920240" cy="265176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143000"/>
            <a:ext cx="1920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143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Phase 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051560" y="1508760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254203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Pile of Law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(HuggingFace)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+Legal QA Pairs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+Hard Negatives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331720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587752" y="1143000"/>
            <a:ext cx="1920240" cy="265176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587752" y="1143000"/>
            <a:ext cx="192024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587752" y="1143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Phase 2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27832" y="1508760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16002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87752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Fine-tuning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679192" y="254203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all-MiniLM-L6-v2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→ MNRL Loss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→ 3 Epochs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→ Legal Model</a:t>
            </a:r>
            <a:endParaRPr lang="en-US" sz="8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331720"/>
            <a:ext cx="201168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64024" y="1143000"/>
            <a:ext cx="1920240" cy="265176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64024" y="1143000"/>
            <a:ext cx="1920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764024" y="1143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Phase 3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5404104" y="1508760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544" y="160020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64024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Dual Pipeline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855464" y="254203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Pipeline A: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Generic Embeddings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Pipeline B: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Fine-tuned Embeddings</a:t>
            </a:r>
            <a:endParaRPr lang="en-US" sz="8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331720"/>
            <a:ext cx="201168" cy="20116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940296" y="1143000"/>
            <a:ext cx="1920240" cy="265176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940296" y="1143000"/>
            <a:ext cx="19202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940296" y="1143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Phase 4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7580376" y="1508760"/>
            <a:ext cx="640080" cy="640080"/>
          </a:xfrm>
          <a:prstGeom prst="line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1816" y="1600200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40296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7031736" y="254203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RAGAS Metrics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+Retrieval P@K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+t-SNE Viz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+Dashboard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411480" y="3913632"/>
            <a:ext cx="8321040" cy="777240"/>
          </a:xfrm>
          <a:prstGeom prst="rect">
            <a:avLst/>
          </a:prstGeom>
          <a:solidFill>
            <a:srgbClr val="243B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94360" y="39776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94A3B8"/>
                </a:solidFill>
              </a:rPr>
              <a:t>Key Design Principle: Both pipelines are identical in every way except the embedding model. This isolates the embedding quality as the single variable — making the comparison scientifically valid. Same LLM, same vectorstore, same retriever, same prompt.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DATA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&amp; Training Pair Generation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43000"/>
            <a:ext cx="3931920" cy="361188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143000"/>
            <a:ext cx="393192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Training Data Sources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536192"/>
            <a:ext cx="3657600" cy="594360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536192"/>
            <a:ext cx="457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5910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Pile of Law (HuggingFace)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3232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Court opinions, contracts, statutes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91840" y="1691640"/>
            <a:ext cx="868680" cy="201168"/>
          </a:xfrm>
          <a:prstGeom prst="rect">
            <a:avLst/>
          </a:prstGeom>
          <a:solidFill>
            <a:srgbClr val="1A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16916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~3,000 docs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48640" y="2231136"/>
            <a:ext cx="3657600" cy="594360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231136"/>
            <a:ext cx="45720" cy="594360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Legal QA Dataset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3232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Question–answer pairs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291840" y="2386584"/>
            <a:ext cx="868680" cy="201168"/>
          </a:xfrm>
          <a:prstGeom prst="rect">
            <a:avLst/>
          </a:prstGeom>
          <a:solidFill>
            <a:srgbClr val="1A2E45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238658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0E0EF"/>
                </a:solidFill>
              </a:rPr>
              <a:t>~2,000 pairs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548640" y="2926080"/>
            <a:ext cx="3657600" cy="594360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926080"/>
            <a:ext cx="4572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29809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Adjacent Chunk Pairs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3232" y="3200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Sentence-level positives from corpus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291840" y="3081528"/>
            <a:ext cx="868680" cy="201168"/>
          </a:xfrm>
          <a:prstGeom prst="rect">
            <a:avLst/>
          </a:prstGeom>
          <a:solidFill>
            <a:srgbClr val="1A2E45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0" y="30815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A261"/>
                </a:solidFill>
              </a:rPr>
              <a:t>~1,500 pairs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48640" y="3621024"/>
            <a:ext cx="3657600" cy="594360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621024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36758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Hard Negative Pairs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3232" y="38953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Domain disambiguation examples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291840" y="3776472"/>
            <a:ext cx="868680" cy="201168"/>
          </a:xfrm>
          <a:prstGeom prst="rect">
            <a:avLst/>
          </a:prstGeom>
          <a:solidFill>
            <a:srgbClr val="1A2E45"/>
          </a:solidFill>
          <a:ln w="6350">
            <a:solidFill>
              <a:srgbClr val="E76F5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91840" y="37764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76F51"/>
                </a:solidFill>
              </a:rPr>
              <a:t>~50 pairs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48640" y="4343400"/>
            <a:ext cx="3657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Total:  ~6,550 training pairs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480560" y="1143000"/>
            <a:ext cx="4251960" cy="361188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0" y="1143000"/>
            <a:ext cx="42519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1207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Training Pair Format (MNRL)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17720" y="1536192"/>
            <a:ext cx="3977640" cy="1481328"/>
          </a:xfrm>
          <a:prstGeom prst="rect">
            <a:avLst/>
          </a:prstGeom>
          <a:solidFill>
            <a:srgbClr val="0A0F1E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09160" y="1581912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  →  Relevant Passage
</a:t>
            </a: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InputExample</a:t>
            </a:r>
            <a:r>
              <a:rPr lang="en-US" sz="8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(texts=[
</a:t>
            </a:r>
            <a:r>
              <a:rPr lang="en-US" sz="8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 is consideration?",
</a:t>
            </a: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"Consideration is value
   exchanged between parties..."
</a:t>
            </a:r>
            <a:r>
              <a:rPr lang="en-US" sz="8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17720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6F51"/>
                </a:solidFill>
              </a:rPr>
              <a:t>Hard Negative Example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617720" y="3310128"/>
            <a:ext cx="3977640" cy="1280160"/>
          </a:xfrm>
          <a:prstGeom prst="rect">
            <a:avLst/>
          </a:prstGeom>
          <a:solidFill>
            <a:srgbClr val="0A0F1E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09160" y="3355848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Ambiguous term — teach domain meaning
</a:t>
            </a:r>
            <a:r>
              <a:rPr lang="en-US" sz="78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InputExample</a:t>
            </a:r>
            <a:r>
              <a:rPr lang="en-US" sz="7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(texts=[
</a:t>
            </a: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"consideration in contract law",
</a:t>
            </a:r>
            <a:r>
              <a:rPr lang="en-US" sz="78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Legal: payment/value exchanged
  # NOT: deliberation/thinking
</a:t>
            </a:r>
            <a:r>
              <a:rPr lang="en-US" sz="78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"The $10k consideration was valid"</a:t>
            </a:r>
            <a:endParaRPr lang="en-US" sz="7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8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DUAL PIPELINE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Side-by-Side RAG Pipeline Comparison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User Legal Query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48840" y="1572768"/>
            <a:ext cx="36576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0" y="1572768"/>
            <a:ext cx="36576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938528"/>
            <a:ext cx="3749040" cy="2450592"/>
          </a:xfrm>
          <a:prstGeom prst="rect">
            <a:avLst/>
          </a:prstGeom>
          <a:solidFill>
            <a:srgbClr val="1A2E45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1938528"/>
            <a:ext cx="374904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938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</a:rPr>
              <a:t>PIPELINE A — Generic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" y="2286000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all-MiniLM-L6-v2 (generic)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" y="2688336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6883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Chroma Vector Store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090672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090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Similarity Search (cosine)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" y="3493008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493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Top-5 chunks retrieved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" y="3895344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38953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LLM generates answer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83480" y="1938528"/>
            <a:ext cx="3749040" cy="2450592"/>
          </a:xfrm>
          <a:prstGeom prst="rect">
            <a:avLst/>
          </a:prstGeom>
          <a:solidFill>
            <a:srgbClr val="1A2E45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83480" y="1938528"/>
            <a:ext cx="37490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1938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PIPELINE B — Fine-tuned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166360" y="2286000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5780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legal-embedding-model 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66360" y="2688336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57800" y="26883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Chroma Vector Store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166360" y="3090672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57800" y="3090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Similarity Search (cosine)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166360" y="3493008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57800" y="3493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Top-5 chunks retrieved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166360" y="3895344"/>
            <a:ext cx="3383280" cy="34747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57800" y="38953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LLM generates answer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206240" y="2834640"/>
            <a:ext cx="731520" cy="731520"/>
          </a:xfrm>
          <a:prstGeom prst="line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0624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VS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11480" y="4507992"/>
            <a:ext cx="8321040" cy="274320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Only 1 variable differs between pipelines: the embedding model. Everything else is identical.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778240" y="4892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772668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772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Results — RAGAS Metrics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70432"/>
            <a:ext cx="1572768" cy="141732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170432"/>
            <a:ext cx="1572768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2529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</a:rPr>
              <a:t>0.81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11480" y="1691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Context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Precision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40664" y="1993392"/>
            <a:ext cx="9144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D6A0"/>
                </a:solidFill>
              </a:rPr>
              <a:t>+31% vs generic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130552" y="1170432"/>
            <a:ext cx="1572768" cy="141732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30552" y="1170432"/>
            <a:ext cx="1572768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30552" y="122529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</a:rPr>
              <a:t>0.76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130552" y="1691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Context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Recall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459736" y="1993392"/>
            <a:ext cx="9144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59736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D6A0"/>
                </a:solidFill>
              </a:rPr>
              <a:t>+31% vs generic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849624" y="1170432"/>
            <a:ext cx="1572768" cy="141732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9624" y="1170432"/>
            <a:ext cx="157276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9624" y="122529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0.84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849624" y="1691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Answer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Relevancy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178808" y="1993392"/>
            <a:ext cx="9144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D8"/>
                </a:solidFill>
              </a:rPr>
              <a:t>+18% vs generic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568696" y="1170432"/>
            <a:ext cx="1572768" cy="141732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68696" y="1170432"/>
            <a:ext cx="157276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68696" y="122529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0.87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5568696" y="1691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Faithfulness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897880" y="1993392"/>
            <a:ext cx="9144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97880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D8"/>
                </a:solidFill>
              </a:rPr>
              <a:t>+10% vs generic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7287768" y="1170432"/>
            <a:ext cx="1572768" cy="1417320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287768" y="1170432"/>
            <a:ext cx="1572768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87768" y="1225296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0.78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7287768" y="16916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Retrieval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P@5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616952" y="1993392"/>
            <a:ext cx="9144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16952" y="1993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4A261"/>
                </a:solidFill>
              </a:rPr>
              <a:t>+30% vs generic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11480" y="2670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Metric-by-Metric Comparison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11480" y="299923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Context Precision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874520" y="2999232"/>
            <a:ext cx="2267712" cy="90526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87952" y="2999232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76F51"/>
                </a:solidFill>
              </a:rPr>
              <a:t>0.62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1874520" y="3095793"/>
            <a:ext cx="2962656" cy="9052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82896" y="3095793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D6A0"/>
                </a:solidFill>
              </a:rPr>
              <a:t>0.81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11480" y="339242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Context Recall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874520" y="3392424"/>
            <a:ext cx="2121408" cy="90526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41648" y="3392424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76F51"/>
                </a:solidFill>
              </a:rPr>
              <a:t>0.58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1874520" y="3488985"/>
            <a:ext cx="2779776" cy="9052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00016" y="3488985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D6A0"/>
                </a:solidFill>
              </a:rPr>
              <a:t>0.76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411480" y="37856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Answer Relevancy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874520" y="3785616"/>
            <a:ext cx="2596896" cy="90526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17136" y="3785616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76F51"/>
                </a:solidFill>
              </a:rPr>
              <a:t>0.71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1874520" y="3882177"/>
            <a:ext cx="3072384" cy="9052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92624" y="3882177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D6A0"/>
                </a:solidFill>
              </a:rPr>
              <a:t>0.84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411480" y="41788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Faithfulness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1874520" y="4178808"/>
            <a:ext cx="2889504" cy="90526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809744" y="4178808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76F51"/>
                </a:solidFill>
              </a:rPr>
              <a:t>0.79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1874520" y="4275369"/>
            <a:ext cx="3182112" cy="9052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102352" y="4275369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D6A0"/>
                </a:solidFill>
              </a:rPr>
              <a:t>0.87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411480" y="45720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Retrieval P@5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1874520" y="4572000"/>
            <a:ext cx="2194560" cy="90526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114800" y="4572000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76F51"/>
                </a:solidFill>
              </a:rPr>
              <a:t>0.60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1874520" y="4668561"/>
            <a:ext cx="2852928" cy="9052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773168" y="4668561"/>
            <a:ext cx="274320" cy="90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D6A0"/>
                </a:solidFill>
              </a:rPr>
              <a:t>0.78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411480" y="4663440"/>
            <a:ext cx="27432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31520" y="4617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76F51"/>
                </a:solidFill>
              </a:rPr>
              <a:t>Generic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1508760" y="4663440"/>
            <a:ext cx="27432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828800" y="4617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D6A0"/>
                </a:solidFill>
              </a:rPr>
              <a:t>Fine-tuned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4983480" y="2633472"/>
            <a:ext cx="3749040" cy="221284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983480" y="2633472"/>
            <a:ext cx="374904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120640" y="2697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What these metrics mean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5120640" y="3017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Context Precision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512064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Fraction of retrieved chunks that are actually relevant to the question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5120640" y="34655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Context Recall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512064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Coverage of ground truth answer by retrieved chunks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5120640" y="39136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Answer Relevancy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5120640" y="4096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Does the LLM's answer address what was asked?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5120640" y="4361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Faithfulness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5120640" y="4544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Is the answer fully grounded in the retrieved context?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2390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VISUALIZATION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Space: Proving the Semantic Shift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t-SNE plots show how models arrange sentences in 2D vector space. Fine-tuned models cluster legal and general meanings apart.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1480" y="1417320"/>
            <a:ext cx="3931920" cy="25786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9319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Generic Model — Mixed Semantic Space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23544" y="192938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03704" y="247802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63624" y="320954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52344" y="183794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46504" y="211226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18104" y="302666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89304" y="220370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78024" y="192938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4984" y="293522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35224" y="229514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29384" y="311810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66744" y="256946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E76F51"/>
                </a:solidFill>
              </a:rPr>
              <a:t>← Mixed clusters — model can't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E76F51"/>
                </a:solidFill>
              </a:rPr>
              <a:t>distinguish legal from general usage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26280" y="1417320"/>
            <a:ext cx="4206240" cy="25786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1417320"/>
            <a:ext cx="42062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1417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Fine-tuned Model — Clean Separation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937760" y="1783080"/>
            <a:ext cx="1463040" cy="1371600"/>
          </a:xfrm>
          <a:prstGeom prst="lin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32320" y="2423160"/>
            <a:ext cx="1371600" cy="1280160"/>
          </a:xfrm>
          <a:prstGeom prst="line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29784" y="183794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04104" y="220370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46904" y="238658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78424" y="192938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21224" y="256946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95544" y="2752344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32904" y="266090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98664" y="238658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15784" y="302666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50024" y="275234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81544" y="284378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24344" y="2523744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92040" y="1828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</a:rPr>
              <a:t>Legal cluster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7040880" y="24688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76F51"/>
                </a:solidFill>
              </a:rPr>
              <a:t>General cluster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4663440" y="3749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← Clear separation! Domain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meaning is well-learned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4050792"/>
            <a:ext cx="164592" cy="164592"/>
          </a:xfrm>
          <a:prstGeom prst="lin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5800" y="405079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Legal sentences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2286000" y="4050792"/>
            <a:ext cx="164592" cy="164592"/>
          </a:xfrm>
          <a:prstGeom prst="line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14600" y="40507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6F51"/>
                </a:solidFill>
              </a:rPr>
              <a:t>General sentences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11480" y="4343400"/>
            <a:ext cx="83210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4343400"/>
            <a:ext cx="54864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437083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94A3B8"/>
                </a:solidFill>
              </a:rPr>
              <a:t>Key Takeaway: In the fine-tuned model, "consideration" clusters near "payment/value" — not "deliberation". This proves the model learned the legal domain's semantic structure.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"/>
            <a:ext cx="100584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TECH STACK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Key Design Decisions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1704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170432"/>
            <a:ext cx="45720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1261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Sentence Transformers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1208" y="15636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Fine-tuning &amp; inference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0" y="11704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170432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0048" y="1261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HuggingFace Datasets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670048" y="15636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Legal corpus collection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09160" y="11704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170432"/>
            <a:ext cx="45720" cy="749808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8888" y="1261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E0EF"/>
                </a:solidFill>
              </a:rPr>
              <a:t>LangChain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18888" y="15636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RAG chain orchestration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858000" y="11704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1170432"/>
            <a:ext cx="45720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728" y="1261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ChromaDB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967728" y="15636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Vector store &amp; retrieval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11480" y="20848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2084832"/>
            <a:ext cx="45720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RAGAS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1208" y="24780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RAG evaluation framework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560320" y="20848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60320" y="2084832"/>
            <a:ext cx="45720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670048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</a:rPr>
              <a:t>Streamlit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670048" y="24780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Interactive dashboard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09160" y="20848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09160" y="2084832"/>
            <a:ext cx="45720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18888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PyTorch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18888" y="24780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Model training backend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858000" y="2084832"/>
            <a:ext cx="1965960" cy="74980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0" y="2084832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67728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scikit-learn / t-SNE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967728" y="247802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Embedding visualization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3127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Key Design Decisions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11480" y="3456432"/>
            <a:ext cx="4069080" cy="43891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3493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MNRL Loss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1737360" y="3547872"/>
            <a:ext cx="36576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874520" y="34930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Best loss for (query, doc) retrieval tasks. No manual negative pairs needed.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17720" y="3456432"/>
            <a:ext cx="4069080" cy="43891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09160" y="34930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Chunk = 512 tokens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943600" y="3547872"/>
            <a:ext cx="36576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80760" y="34930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Legal clauses are dense. Smaller chunks lose critical context.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11480" y="3968496"/>
            <a:ext cx="4069080" cy="43891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2920" y="40050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Cosine Similarity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1737360" y="4059936"/>
            <a:ext cx="36576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874520" y="4005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Normalized embeddings; scale-invariant; standard for semantic search.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17720" y="3968496"/>
            <a:ext cx="4069080" cy="438912"/>
          </a:xfrm>
          <a:prstGeom prst="rect">
            <a:avLst/>
          </a:prstGeom>
          <a:solidFill>
            <a:srgbClr val="243B55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09160" y="40050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all-MiniLM-L6-v2 base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943600" y="4059936"/>
            <a:ext cx="36576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080760" y="40050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23M params — fast fine-tuning, proven strong retrieval baseline.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line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2743200" cy="2743200"/>
          </a:xfrm>
          <a:prstGeom prst="line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"/>
            <a:ext cx="100584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CONCLUSION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 &amp; Takeaways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11480" y="1170432"/>
            <a:ext cx="4023360" cy="138988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1170432"/>
            <a:ext cx="40233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1208" y="1316736"/>
            <a:ext cx="457200" cy="457200"/>
          </a:xfrm>
          <a:prstGeom prst="line">
            <a:avLst/>
          </a:prstGeom>
          <a:solidFill>
            <a:srgbClr val="243B55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4081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24712" y="12801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Embeddings Are Not One-Size-Fits-All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6072" y="167335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Domain shift is real. Generic models that excel at general QA degrade significantly in specialized domains where vocabulary carries different semantic weight.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63440" y="1170432"/>
            <a:ext cx="4023360" cy="138988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1170432"/>
            <a:ext cx="4023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73168" y="1316736"/>
            <a:ext cx="457200" cy="457200"/>
          </a:xfrm>
          <a:prstGeom prst="line">
            <a:avLst/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4081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76672" y="12801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Quality &gt; Quantity in Training Data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828032" y="167335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 few hundred carefully crafted hard negatives — disambiguating legal from general term usage — outperformed thousands of random adjacent-sentence pairs.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2679192"/>
            <a:ext cx="4023360" cy="138988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" y="2679192"/>
            <a:ext cx="402336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21208" y="2825496"/>
            <a:ext cx="457200" cy="457200"/>
          </a:xfrm>
          <a:prstGeom prst="line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91693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24712" y="278892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Metrics Make Improvement Defensible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76072" y="31821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Without RAGAS evaluation, improvement is just intuition. Structured metrics (precision, recall, faithfulness) give concrete numbers you can present to stakeholders.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663440" y="2679192"/>
            <a:ext cx="4023360" cy="1389888"/>
          </a:xfrm>
          <a:prstGeom prst="rect">
            <a:avLst/>
          </a:prstGeom>
          <a:solidFill>
            <a:srgbClr val="1A2E45"/>
          </a:solidFill>
          <a:ln w="6350">
            <a:solidFill>
              <a:srgbClr val="475569"/>
            </a:solidFill>
            <a:prstDash val="solid"/>
          </a:ln>
          <a:effectLst>
            <a:outerShdw blurRad="1270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63440" y="2679192"/>
            <a:ext cx="4023360" cy="36576"/>
          </a:xfrm>
          <a:prstGeom prst="rect">
            <a:avLst/>
          </a:prstGeom>
          <a:solidFill>
            <a:srgbClr val="90E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73168" y="2825496"/>
            <a:ext cx="457200" cy="457200"/>
          </a:xfrm>
          <a:prstGeom prst="line">
            <a:avLst/>
          </a:prstGeom>
          <a:solidFill>
            <a:srgbClr val="243B55"/>
          </a:solidFill>
          <a:ln w="12700">
            <a:solidFill>
              <a:srgbClr val="90E0E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91693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76672" y="278892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E0EF"/>
                </a:solidFill>
              </a:rPr>
              <a:t>Visualizations Are the Best Communication Tool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828032" y="31821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 t-SNE plot showing 'consideration' clustering near 'payment' in the fine-tuned model instantly communicates what paragraphs of explanation cannot.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11480" y="4279392"/>
            <a:ext cx="83210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11480" y="4279392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370832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5840" y="43159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B4D8"/>
                </a:solidFill>
              </a:rPr>
              <a:t>https://github.com/VijayKumaro7/Fine-tuned-embeddings-for-legal-RAG-systems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005840" y="45720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Full source code, evaluation scripts, Streamlit dashboard, and README with reproducibility instructions.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778240" y="4663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1081</Words>
  <Application>Microsoft Office PowerPoint</Application>
  <PresentationFormat>On-screen Show (16:9)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Domain-Specific RAG with Fine-tuned Embeddings</dc:title>
  <dc:subject>PptxGenJS Presentation</dc:subject>
  <dc:creator>Vijay</dc:creator>
  <cp:lastModifiedBy>vijay kumar</cp:lastModifiedBy>
  <cp:revision>2</cp:revision>
  <dcterms:created xsi:type="dcterms:W3CDTF">2026-03-01T17:16:47Z</dcterms:created>
  <dcterms:modified xsi:type="dcterms:W3CDTF">2026-03-01T17:30:14Z</dcterms:modified>
</cp:coreProperties>
</file>